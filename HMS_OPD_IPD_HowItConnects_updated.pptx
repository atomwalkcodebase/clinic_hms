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CLINICAL HMS – DROP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9262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every workflow, and how one hands off to the next — from the moment a patient walks in, through the wards if they’re admitted, to the moment they see their bill in the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visit flow with an inpatient branch, one portal that sees everything it produces, and a platform layer running underneath all three.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482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9" name="Shape 7"/>
          <p:cNvSpPr/>
          <p:nvPr/>
        </p:nvSpPr>
        <p:spPr>
          <a:xfrm>
            <a:off x="21488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219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484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486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488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225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490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5" name="Shape 23"/>
          <p:cNvSpPr/>
          <p:nvPr/>
        </p:nvSpPr>
        <p:spPr>
          <a:xfrm>
            <a:off x="85496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227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49256" y="2436876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49840" y="1965960"/>
            <a:ext cx="14904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22992" y="2331720"/>
            <a:ext cx="134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93892" y="307238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4747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0665F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38587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1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from the flow above lands here — bookings, prescriptions, lab reports, invoices, discharge summaries, family records, vaccination history, Emergency QR.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93892" y="430682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branches, rooms, billing setup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&amp; Multi-Tenancy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71416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subscriptions, isolated databases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65008" y="4873752"/>
            <a:ext cx="3575304" cy="9144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Custom Roles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9600" y="5422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everywhere, DPDP, role-based access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5861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 every stage above — not a separate app.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Identity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visit begins.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Identity: AWPID (global patient identity) + hospital-specific UHID, both auto-generated after registration.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Profile: Personal, contact, emergency-contact, demographic and basic clinical information.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Mapping: Registration branch, referring doctor/source, registration date and staff mapping.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Context: Payer/insurance information captured at registration for downstream billing.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Privacy: Patient consent for data processing and a separate choice for sharing medical history across Atomwalk-connected hospitals.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Traceability: Registered-by information establishes who created the patient record and at which branch.</a:t>
            </a:r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from the hospital Front Desk or Patient Portal using the same live slot inventory, with real-time validation to prevent double-booking.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compare doctors across active hospitals by specialty, symptom, city, experience and consultation fee, with availability based on each doctor's actual schedule.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for linked family members without re-registration, with consent captured when sharing medical history from other hospitals.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complete appointment lifecycle — confirmation, token &amp; room details, configurable payment options, cancellation/rescheduling, 2-month booking limits and automatic no-show handling.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 OPD Queue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 OPD Queue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live, branch-specific OPD queue connects Front Desk, assigned Nurses and Doctors, keeping patient status synchronized in real time.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Backend-controlled visit states manage the patient journey from waiting through vitals, consultation and completion, with controlled cancellation/no-show handling.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floor assignments are carried with the appointment, allowing staff and patients to know exactly where the consultation takes place.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call the next patient directly from the queue, while nurses and Front Desk work from the same underlying visit status.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Workflow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&amp; Nurse Workflow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vitals are captured before consultation — including BP, pulse, SpO₂, temperature and other required measurements.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appointment, room and floor context carries into the vitals workflow, so nurses don't have to reconstruct the visit details.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tasks and supporting documentation are handled within the workflow, including pending actions and vaccination-certificate uploads.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/ EMR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 / EMR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consultation workspace brings diagnosis, clinical notes, prescriptions and referrals into the same patient visit.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fees are automatically determined by visit type, supporting different charges for consultations.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EMR is hospital-configurable, allowing each hospital to define its consultation role/workspace according to its operational requirements.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consultation becomes the clinical source for downstream prescriptions, lab orders and patient follow-up.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Trigger: when the consultation indicates inpatient care is required, the visit converts directly into an IPD admission with its context intact.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 vs Prescription: clinical notes stay private to staff, separate from the patient-facing Prescription output, with offline drafts synced once connectivity returns.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Lab Orders  ·  or IPD Admission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Lab Orders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choose in-house or external fulfillment for both prescriptions and laboratory investigations.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fulfillment paths remain connected to the patient visit and billing flow, ensuring ordered services are not lost outside the system.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pharmacist manages a configurable drug catalogue and dosage forms, supporting hospital-specific medication workflows.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flow directly into Pharmacy &amp; Billing, connecting clinical decisions with fulfillment and financial processing.</a:t>
            </a:r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065368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144921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0641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6164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3741202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6922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93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5337483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3203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4212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33765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9485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5049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30046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5766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46774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6327" y="384048"/>
            <a:ext cx="1513985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2047" y="384048"/>
            <a:ext cx="14225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00665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visit closes out — and where the portal picks it back up.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operations include dispensing, stock receiving and a live operational dashboard, connecting medication orders to fulfillment.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hospital-configurable, with its own billing catalogue, registration fees, tax rates and applicable charges.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generated as downloadable documents with itemized discounts and patient-selectable payment methods.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revenue and payment activity are tracked through reports and a payment ledger, providing visibility into financial transactions.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Both Tracks: the same billing and invoicing module finalizes same-day OPD visits and inpatient discharge accounts alike.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Consumables &amp; Usage Tracking: ward and OT consumables used during a stay are logged against the patient and rolled automatically into the final bill.</a:t>
            </a:r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B4C4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everything above surfaces here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— Where It All Surfaces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separate product. Every stage on the spine writes into what the patient sees here.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1050276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login manages the entire family, allowing patients to switch between linked family members and book appointments on their behalf.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discovery and appointment management lets patients browse doctors, book, cancel and reschedule across participating hospitals.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access their appointments, prescriptions and lab reports as part of their longitudinal health record, rather than as isolated transactions. </a:t>
            </a:r>
          </a:p>
          <a:p>
            <a:pPr marL="177800" indent="-1778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health tracking and Emergency QR extend the portal beyond appointments, with vaccination/growth history and consent-controlled emergency medical information.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stays surface here too — admission details, discharge summaries and final invoices sit alongside every OPD record in the same longitudinal history.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PER HOSPITAL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hospital-level administration layer manages staff, branches, rooms, room assignments and operational configuration.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 configure their billing catalogue, registration fees, taxes, services and available payment methods according to their own setup.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P&amp;L, balance sheet, HR, payroll and other back-office functions are available through Atomwalk ERP, while hospitals using other systems can connect through APIs/connectors to Tally, Oracle or other ERP/accounting platforms.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Hospital-wide settings and clinical configurations such as vaccination schedules, logo, storage and payment options are centrally managed.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ACROSS EVERY HOSPITAL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 &amp; Multi-Tenancy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hospitals can be onboarded and provisioned as isolated tenants, with a separate database created for each hospital.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manages hospital subscription status and platform-level configuration across tenants.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structures are configurable across hospitals, while each hospital remains isolated from other tenants.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platform identity layer maintains the global AWPID, enabling controlled cross-hospital identity, family linking and consent-based health-record sharing.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UNDERNEATH, ON EVERY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Custom Roles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259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authentication and password recovery are implemented across patient and staff access, without weak fallback mechanisms.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hospital roles and backend-enforced permissions allow hospitals to define who can access or perform specific functions.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DPDP-aligned controls include PHI access logging, patient correction requests and consent capture across the patient journey. </a:t>
            </a:r>
          </a:p>
          <a:p>
            <a:pPr marL="177800" indent="-177800">
              <a:lnSpc>
                <a:spcPct val="108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clinical images are stored in S3-compatible object storage, organized against patient identity and document category.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MAP, NOW FAMILIAR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Picture, Once More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57531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7" name="Shape 5"/>
          <p:cNvSpPr/>
          <p:nvPr/>
        </p:nvSpPr>
        <p:spPr>
          <a:xfrm>
            <a:off x="2146227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1947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5118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0" name="Shape 8"/>
          <p:cNvSpPr/>
          <p:nvPr/>
        </p:nvSpPr>
        <p:spPr>
          <a:xfrm>
            <a:off x="3743815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9535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Queue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52705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5341402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7122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0293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6" name="Shape 14"/>
          <p:cNvSpPr/>
          <p:nvPr/>
        </p:nvSpPr>
        <p:spPr>
          <a:xfrm>
            <a:off x="6938990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4710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EMR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47880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36577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2297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Lab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45468" y="2221992"/>
            <a:ext cx="85954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4165" y="1920240"/>
            <a:ext cx="1506147" cy="685800"/>
          </a:xfrm>
          <a:prstGeom prst="roundRect">
            <a:avLst>
              <a:gd name="adj" fmla="val 8000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79885" y="1920240"/>
            <a:ext cx="1414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Billing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surfaces in the Patient Portal  ·  ↓  runs on Hospital Admin, Platform Admin, and Security &amp; Compliance underneath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across OPD + IPD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7304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37304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+ 1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520184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logins + patient portal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5968" y="3291840"/>
            <a:ext cx="3514344" cy="1554480"/>
          </a:xfrm>
          <a:prstGeom prst="roundRect">
            <a:avLst>
              <a:gd name="adj" fmla="val 3529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25968" y="3401568"/>
            <a:ext cx="3514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8308848" y="411480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isolated database per hospital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hands off to the next automatically — nothing on this map is a standalone screen.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6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Inpatient Branch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from Doctor Consultation / EMR when the doctor recommends admission — same identity, same consent, one longer stay.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Admission &amp; Bed Allocation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149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9" name="Shape 7"/>
          <p:cNvSpPr/>
          <p:nvPr/>
        </p:nvSpPr>
        <p:spPr>
          <a:xfrm>
            <a:off x="24155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86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86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18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55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555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87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93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24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24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156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62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93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893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2556" y="2432304"/>
            <a:ext cx="91440" cy="118872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25" name="Shape 23"/>
          <p:cNvSpPr/>
          <p:nvPr/>
        </p:nvSpPr>
        <p:spPr>
          <a:xfrm>
            <a:off x="9883140" y="1965960"/>
            <a:ext cx="1757172" cy="1051560"/>
          </a:xfrm>
          <a:prstGeom prst="roundRect">
            <a:avLst>
              <a:gd name="adj" fmla="val 5217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6292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56292" y="2331720"/>
            <a:ext cx="1610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1200" dirty="0"/>
          </a:p>
        </p:txBody>
      </p:sp>
      <p:sp>
        <p:nvSpPr>
          <p:cNvPr id="28" name="Shape D"/>
          <p:cNvSpPr/>
          <p:nvPr/>
        </p:nvSpPr>
        <p:spPr>
          <a:xfrm>
            <a:off x="5993892" y="3072384"/>
            <a:ext cx="201168" cy="292608"/>
          </a:xfrm>
          <a:prstGeom prst="downArrow">
            <a:avLst/>
          </a:prstGeom>
          <a:solidFill>
            <a:srgbClr val="9FC7C1"/>
          </a:solidFill>
          <a:ln/>
        </p:spPr>
      </p:sp>
      <p:sp>
        <p:nvSpPr>
          <p:cNvPr id="29" name="Shape B"/>
          <p:cNvSpPr/>
          <p:nvPr/>
        </p:nvSpPr>
        <p:spPr>
          <a:xfrm>
            <a:off x="548640" y="34747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0665F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0" name="Text B1"/>
          <p:cNvSpPr/>
          <p:nvPr/>
        </p:nvSpPr>
        <p:spPr>
          <a:xfrm>
            <a:off x="86868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THE SPINE</a:t>
            </a:r>
            <a:endParaRPr lang="en-US" sz="1200" dirty="0"/>
          </a:p>
        </p:txBody>
      </p:sp>
      <p:sp>
        <p:nvSpPr>
          <p:cNvPr id="31" name="Text B2"/>
          <p:cNvSpPr/>
          <p:nvPr/>
        </p:nvSpPr>
        <p:spPr>
          <a:xfrm>
            <a:off x="868680" y="38587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1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 hands the visit back to Pharmacy, Billing &amp; Invoicing for final billing — then everything above surfaces in the Patient Portal, same as any OPD visit.</a:t>
            </a:r>
            <a:endParaRPr lang="en-US" sz="1200" dirty="0"/>
          </a:p>
        </p:txBody>
      </p:sp>
      <p:sp>
        <p:nvSpPr>
          <p:cNvPr id="32" name="Text C"/>
          <p:cNvSpPr/>
          <p:nvPr/>
        </p:nvSpPr>
        <p:spPr>
          <a:xfrm>
            <a:off x="548640" y="47087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same Hospital Administration, Platform Admin and Security &amp; Compliance layers as the rest of the spine.</a:t>
            </a:r>
            <a:endParaRPr lang="en-US" sz="1200" dirty="0"/>
          </a:p>
        </p:txBody>
      </p:sp>
      <p:sp>
        <p:nvSpPr>
          <p:cNvPr id="33" name="Text 45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34" name="Text 46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Admission &amp; Bed Allocation</a:t>
            </a:r>
            <a:endParaRPr lang="en-US" sz="2500" dirty="0"/>
          </a:p>
        </p:txBody>
      </p:sp>
      <p:sp>
        <p:nvSpPr>
          <p:cNvPr id="22" name="Text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inpatient journey begins.</a:t>
            </a:r>
            <a:endParaRPr lang="en-US" sz="1250" dirty="0"/>
          </a:p>
        </p:txBody>
      </p:sp>
      <p:sp>
        <p:nvSpPr>
          <p:cNvPr id="23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4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→ IPD Conversion: admission is raised directly from the consultation, carrying the same AWPID/UHID, consultation notes and consent forward — nothing is re-entered.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&amp; Ward Inventory: live ward/room/bed availability across general, specialty and ICU beds, with states (available, reserved, occupied, cleaning) updated in real time.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Documentation: admitting doctor, department, admission type, consent forms and an initial nursing assessment captured at the point of admission.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&amp; Pre-authorization: insurance/TPA eligibility and pre-authorization request captured alongside admission for downstream billing.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 &amp; Belongings: attendant/next-of-kin details and a patient-belongings log recorded against the admission.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&amp; Stay: an initial cost and expected-length-of-stay estimate is captured at admission alongside the doctor's order, and can be revised as treatment progresses.</a:t>
            </a:r>
          </a:p>
        </p:txBody>
      </p:sp>
      <p:sp>
        <p:nvSpPr>
          <p:cNvPr id="25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6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1050" dirty="0"/>
          </a:p>
        </p:txBody>
      </p:sp>
      <p:sp>
        <p:nvSpPr>
          <p:cNvPr id="27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8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Nursing &amp; Vitals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Assessment &amp; Care Plan: a structured nursing assessment and an individualized care plan created for every admitted patient.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Vitals Monitoring: BP, pulse, SpO₂, temperature, pain score and other ward-configurable vitals captured on a defined schedule.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Output &amp; Positioning: fluid balance, hygiene and positioning documentation tracked alongside vitals.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Handover: shift handover carries pending tasks, risks and medication status to the incoming nurse without re-entry.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My-Ward Workspace: nurses work from a ward-scoped view of their assigned patients, tasks and pending physician orders.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Rounds, Orders &amp; eMAR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Progress Notes: examination findings, diagnosis updates and treatment-plan changes recorded against each round.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Orders: lab, radiology, procedure, diet, nursing and referral orders raised directly from the round.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Medication (eMAR): order, pharmacist verification, scheduled dose, nurse administration and recorded outcome — including missed or refused doses with reason.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Nutrition Orders: diet type and restrictions linked to allergies and dietician assessment.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Consultations: internal referral to another department, with the consultant’s response recorded in the same clinical timeline.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Investigations, Procedures &amp; OT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Radiology: order, sample collection, result and critical-value alert flow shared with the OPD lab module, scoped to the inpatient visit.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Scheduling: consent, pre-procedure checklist and consumables tracked against every ordered procedure.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&amp; Surgery: pre-op preparation, OT transfer, intra-operative record and post-op recovery documented as one continuous episode.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Bank: component request, cross-match, issue and transfusion monitoring for patients requiring transfusion.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Acknowledgement: doctor sign-off on critical results feeds straight back into the round notes.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Case Templates: common OT/procedure steps are generalized once, with surgery-specific variations (e.g. pediatric, cardiac) added through configuration rather than new code.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 Escalation</a:t>
            </a:r>
            <a:endParaRPr lang="en-US" sz="2500" dirty="0"/>
          </a:p>
        </p:txBody>
      </p:sp>
      <p:sp>
        <p:nvSpPr>
          <p:cNvPr id="22" name="Shape"/>
          <p:cNvSpPr/>
          <p:nvPr/>
        </p:nvSpPr>
        <p:spPr>
          <a:xfrm>
            <a:off x="548640" y="2286000"/>
            <a:ext cx="11091672" cy="324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3" name="Text"/>
          <p:cNvSpPr/>
          <p:nvPr/>
        </p:nvSpPr>
        <p:spPr>
          <a:xfrm>
            <a:off x="868680" y="2560320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Ward-to-Ward / Ward-to-ICU Transfer: clinical justification, receiving-bed availability and approval captured before a transfer is confirmed.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/ HDU Management: ventilator and critical-care parameters documented separately from general-ward vitals.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Response &amp; Emergency Events: escalation and resuscitation documentation for in-hospital emergencies.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Care-Team Continuity: the receiving ward or ICU team inherits the full clinical timeline — nothing is re-entered on transfer. </a:t>
            </a:r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Inventory Sync: vacated and newly-occupied beds update the live ward inventory used by Admission in real time.</a:t>
            </a:r>
          </a:p>
        </p:txBody>
      </p:sp>
      <p:sp>
        <p:nvSpPr>
          <p:cNvPr id="24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5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1050" dirty="0"/>
          </a:p>
        </p:txBody>
      </p:sp>
      <p:sp>
        <p:nvSpPr>
          <p:cNvPr id="26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7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&amp; Bed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331415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5" name="Shape 3"/>
          <p:cNvSpPr/>
          <p:nvPr/>
        </p:nvSpPr>
        <p:spPr>
          <a:xfrm>
            <a:off x="2410968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6688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Vitals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93743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8" name="Shape 6"/>
          <p:cNvSpPr/>
          <p:nvPr/>
        </p:nvSpPr>
        <p:spPr>
          <a:xfrm>
            <a:off x="4273296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9016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&amp; eMAR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56071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1" name="Shape 9"/>
          <p:cNvSpPr/>
          <p:nvPr/>
        </p:nvSpPr>
        <p:spPr>
          <a:xfrm>
            <a:off x="6135624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Investig. &amp; OT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918399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7952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E1F3F0"/>
          </a:solidFill>
          <a:ln w="12700">
            <a:solidFill>
              <a:srgbClr val="BF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3672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&amp; ICU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80727" y="594360"/>
            <a:ext cx="76810" cy="82296"/>
          </a:xfrm>
          <a:prstGeom prst="rightArrow">
            <a:avLst/>
          </a:prstGeom>
          <a:solidFill>
            <a:srgbClr val="9FC7C1"/>
          </a:solidFill>
          <a:ln/>
        </p:spPr>
      </p:sp>
      <p:sp>
        <p:nvSpPr>
          <p:cNvPr id="17" name="Shape 15"/>
          <p:cNvSpPr/>
          <p:nvPr/>
        </p:nvSpPr>
        <p:spPr>
          <a:xfrm>
            <a:off x="9860280" y="384048"/>
            <a:ext cx="1780032" cy="502920"/>
          </a:xfrm>
          <a:prstGeom prst="roundRect">
            <a:avLst>
              <a:gd name="adj" fmla="val 10909"/>
            </a:avLst>
          </a:prstGeom>
          <a:solidFill>
            <a:srgbClr val="00665F"/>
          </a:solidFill>
          <a:ln w="12700">
            <a:solidFill>
              <a:srgbClr val="006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384048"/>
            <a:ext cx="1688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50" dirty="0"/>
          </a:p>
        </p:txBody>
      </p:sp>
      <p:sp>
        <p:nvSpPr>
          <p:cNvPr id="19" name="Shape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00665F"/>
          </a:solidFill>
          <a:ln/>
        </p:spPr>
      </p:sp>
      <p:sp>
        <p:nvSpPr>
          <p:cNvPr id="20" name="Text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21" name="Text"/>
          <p:cNvSpPr/>
          <p:nvPr/>
        </p:nvSpPr>
        <p:spPr>
          <a:xfrm>
            <a:off x="1234440" y="1207008"/>
            <a:ext cx="10405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 &amp; Summary</a:t>
            </a:r>
            <a:endParaRPr lang="en-US" sz="2500" dirty="0"/>
          </a:p>
        </p:txBody>
      </p:sp>
      <p:sp>
        <p:nvSpPr>
          <p:cNvPr id="22" name="Text"/>
          <p:cNvSpPr/>
          <p:nvPr/>
        </p:nvSpPr>
        <p:spPr>
          <a:xfrm>
            <a:off x="1234440" y="17373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inpatient stay closes out — and hands back to billing.</a:t>
            </a:r>
            <a:endParaRPr lang="en-US" sz="1250" dirty="0"/>
          </a:p>
        </p:txBody>
      </p:sp>
      <p:sp>
        <p:nvSpPr>
          <p:cNvPr id="23" name="Shape"/>
          <p:cNvSpPr/>
          <p:nvPr/>
        </p:nvSpPr>
        <p:spPr>
          <a:xfrm>
            <a:off x="548640" y="2286000"/>
            <a:ext cx="11091672" cy="3396120"/>
          </a:xfrm>
          <a:prstGeom prst="roundRect">
            <a:avLst>
              <a:gd name="adj" fmla="val 1690"/>
            </a:avLst>
          </a:prstGeom>
          <a:solidFill>
            <a:srgbClr val="F5FCFB"/>
          </a:solidFill>
          <a:ln w="12700">
            <a:solidFill>
              <a:srgbClr val="BFE0DA"/>
            </a:solidFill>
            <a:prstDash val="solid"/>
          </a:ln>
          <a:effectLst>
            <a:outerShdw blurRad="76200" dist="25400" dir="5400000" algn="bl" rotWithShape="0">
              <a:srgbClr val="1B3A36">
                <a:alpha val="10000"/>
              </a:srgbClr>
            </a:outerShdw>
          </a:effectLst>
        </p:spPr>
      </p:sp>
      <p:sp>
        <p:nvSpPr>
          <p:cNvPr id="24" name="Text"/>
          <p:cNvSpPr/>
          <p:nvPr/>
        </p:nvSpPr>
        <p:spPr>
          <a:xfrm>
            <a:off x="868680" y="2560320"/>
            <a:ext cx="10451592" cy="289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Readiness: expected discharge date, pending investigations and a discharge checklist tracked ahead of the actual discharge.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Medication Reconciliation: final diagnosis, procedures and medication list reconciled before the summary is generated.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TPA Clearance: final approval and claim documentation completed as a precondition for discharge.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 &amp; Follow-up: diagnosis, treatment, medications, instructions and the follow-up appointment issued to the patient and portal. 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Release &amp; Turnaround: the bed is released to housekeeping and returns to the live inventory used by IPD Admission.</a:t>
            </a:r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5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Summary: the discharge summary can be drafted automatically from the stay's vitals, notes, labs and medications, with a recovery-progress indicator for doctor and patient.</a:t>
            </a:r>
          </a:p>
        </p:txBody>
      </p:sp>
      <p:sp>
        <p:nvSpPr>
          <p:cNvPr id="25" name="Shape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0B4C46"/>
          </a:solidFill>
          <a:ln/>
        </p:spPr>
      </p:sp>
      <p:sp>
        <p:nvSpPr>
          <p:cNvPr id="26" name="Text"/>
          <p:cNvSpPr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1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 &amp; Invoicing</a:t>
            </a:r>
            <a:endParaRPr lang="en-US" sz="1050" dirty="0"/>
          </a:p>
        </p:txBody>
      </p:sp>
      <p:sp>
        <p:nvSpPr>
          <p:cNvPr id="27" name="Text"/>
          <p:cNvSpPr/>
          <p:nvPr/>
        </p:nvSpPr>
        <p:spPr>
          <a:xfrm>
            <a:off x="548640" y="652881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ATOMWALK TECHNOLOGIES  ·  HOW CLINICAL HMS CONNECTS</a:t>
            </a:r>
            <a:endParaRPr lang="en-US" sz="850" dirty="0"/>
          </a:p>
        </p:txBody>
      </p:sp>
      <p:sp>
        <p:nvSpPr>
          <p:cNvPr id="28" name="Text"/>
          <p:cNvSpPr/>
          <p:nvPr/>
        </p:nvSpPr>
        <p:spPr>
          <a:xfrm>
            <a:off x="11183112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1534</Words>
  <Application>Microsoft Office PowerPoint</Application>
  <PresentationFormat>Widescreen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Atomwalk Clinical HMS — How It All Connects</dc:title>
  <dc:subject>PptxGenJS Presentation</dc:subject>
  <dc:creator>Atomwalk Technologies</dc:creator>
  <cp:lastModifiedBy>Atomwalk Technologies</cp:lastModifiedBy>
  <cp:revision>4</cp:revision>
  <dcterms:created xsi:type="dcterms:W3CDTF">2026-08-25T10:09:42Z</dcterms:created>
  <dcterms:modified xsi:type="dcterms:W3CDTF">2026-08-27T09:44:50Z</dcterms:modified>
</cp:coreProperties>
</file>