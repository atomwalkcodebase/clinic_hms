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3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image" Target="../media/image-1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1051560"/>
            <a:ext cx="1371600" cy="13716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/sessions/festive-serene-bohr/mnt/outputs/ipdicons/hospita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380744"/>
            <a:ext cx="713232" cy="7132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65176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IPD Cycle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352044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F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patient's journey through inpatient care — admission to closure, at a glance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612648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Quick-reference companion to IPD_Complete_Workflow_Functional_Requirements.docx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Cycle — One Admission, Eight Phases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Admission is one long-lived episode of care. Everything below happens inside it — some steps once, some (Daily Care) repeating every day.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57300" y="3177540"/>
            <a:ext cx="9674352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8620" y="27432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sessions/festive-serene-bohr/mnt/outputs/ipdicons/admiss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103" y="29516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1268" y="26334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C46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" y="3749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894767" y="27432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sessions/festive-serene-bohr/mnt/outputs/ipdicons/be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251" y="2951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07415" y="26334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C46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551867" y="3749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Allocation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400915" y="27432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sessions/festive-serene-bohr/mnt/outputs/ipdicons/assessmen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398" y="2951683"/>
            <a:ext cx="451714" cy="45171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013563" y="26334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C46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3058015" y="3749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907062" y="27432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sessions/festive-serene-bohr/mnt/outputs/ipdicons/dailycar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545" y="2951683"/>
            <a:ext cx="451714" cy="45171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519710" y="26334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C46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4564162" y="3749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Care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13210" y="2743200"/>
            <a:ext cx="868680" cy="8686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2" name="Image 4" descr="/sessions/festive-serene-bohr/mnt/outputs/ipdicons/procedur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693" y="2951683"/>
            <a:ext cx="451714" cy="45171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25858" y="26334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C46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6070310" y="3749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(if needed)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7919357" y="27432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5" descr="/sessions/festive-serene-bohr/mnt/outputs/ipdicons/recovery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840" y="2951683"/>
            <a:ext cx="451714" cy="45171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532005" y="26334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C46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7576457" y="3749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9425505" y="27432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/sessions/festive-serene-bohr/mnt/outputs/ipdicons/dischargeplan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3988" y="2951683"/>
            <a:ext cx="451714" cy="45171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0038153" y="26334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C46"/>
                </a:solidFill>
              </a:rPr>
              <a:t>7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9082605" y="3749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Planning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10931652" y="274320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4" name="Image 7" descr="/sessions/festive-serene-bohr/mnt/outputs/ipdicons/discharge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0135" y="2951683"/>
            <a:ext cx="451714" cy="451714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1544300" y="26334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C46"/>
                </a:solidFill>
              </a:rPr>
              <a:t>8</a:t>
            </a:r>
            <a:endParaRPr lang="en-US" sz="1200" dirty="0"/>
          </a:p>
        </p:txBody>
      </p:sp>
      <p:sp>
        <p:nvSpPr>
          <p:cNvPr id="36" name="Text 26"/>
          <p:cNvSpPr txBox="1"/>
          <p:nvPr/>
        </p:nvSpPr>
        <p:spPr>
          <a:xfrm>
            <a:off x="10588752" y="3749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&amp; Closure</a:t>
            </a:r>
            <a:endParaRPr lang="en-US" sz="1150" dirty="0"/>
          </a:p>
        </p:txBody>
      </p:sp>
      <p:sp>
        <p:nvSpPr>
          <p:cNvPr id="37" name="Text 27"/>
          <p:cNvSpPr txBox="1"/>
          <p:nvPr/>
        </p:nvSpPr>
        <p:spPr>
          <a:xfrm>
            <a:off x="5933150" y="4270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conditional — not every patient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4427002" y="4270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C6D3"/>
                </a:solidFill>
              </a:rPr>
              <a:t>repeats daily until ready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822960" y="59893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is detailed on its own slide next — each one shows this same map at the top so you always know where you are.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530352"/>
            <a:ext cx="10981944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9690" y="186538"/>
            <a:ext cx="395021" cy="395021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59690" y="186538"/>
            <a:ext cx="395021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-45720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921546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1546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564930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32197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219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17558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42847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284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78623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53497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5349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39688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needed)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364147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414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00753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974798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74798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618182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585448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585448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228832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0" descr="/sessions/festive-serene-bohr/mnt/outputs/ipdicons/admiss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238098"/>
            <a:ext cx="404165" cy="40416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50876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Admission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1508760" y="14630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"this patient needs to be an inpatient" to a registered episode of care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2057400"/>
            <a:ext cx="6675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22960" y="22585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22960" y="27157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2296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264261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determines the patient needs inpatient care and requests admission — emergency, elective, or planned.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2960" y="355015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22960" y="3550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1325880" y="347700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 registers the patient: identity, payer details, and admission consent are captured.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22960" y="43845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22960" y="43845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1325880" y="431139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cases proceed immediately — registration never blocks urgent bed allocation.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22960" y="521893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22960" y="52189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325880" y="514578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Admission record is created — the one long-lived object everything else in this cycle attaches to.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7452360" y="205740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7708392" y="22402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INVOLVED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708392" y="26243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48" name="Image 1" descr="/sessions/festive-serene-bohr/mnt/outputs/ipdicons/docto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564" y="2716500"/>
            <a:ext cx="199705" cy="199705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8229600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/ admitting doctor</a:t>
            </a:r>
            <a:endParaRPr lang="en-US" sz="1250" dirty="0"/>
          </a:p>
        </p:txBody>
      </p:sp>
      <p:sp>
        <p:nvSpPr>
          <p:cNvPr id="50" name="Shape 46"/>
          <p:cNvSpPr/>
          <p:nvPr/>
        </p:nvSpPr>
        <p:spPr>
          <a:xfrm>
            <a:off x="7708392" y="30815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51" name="Image 2" descr="/sessions/festive-serene-bohr/mnt/outputs/ipdicons/adm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564" y="3173700"/>
            <a:ext cx="199705" cy="199705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8229600" y="3108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/ front desk</a:t>
            </a:r>
            <a:endParaRPr lang="en-US" sz="1250" dirty="0"/>
          </a:p>
        </p:txBody>
      </p:sp>
      <p:sp>
        <p:nvSpPr>
          <p:cNvPr id="53" name="Shape 48"/>
          <p:cNvSpPr/>
          <p:nvPr/>
        </p:nvSpPr>
        <p:spPr>
          <a:xfrm>
            <a:off x="7452360" y="457200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EAF6F2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7680960" y="4800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5" name="Image 3" descr="/sessions/festive-serene-bohr/mnt/outputs/ipdicons/safet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88" y="4910328"/>
            <a:ext cx="237744" cy="237744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275320" y="4754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7680960" y="5166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cannot be silently skipped — every inpatient stay starts with a traceable request and consent record.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530352"/>
            <a:ext cx="10981944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-45720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70340" y="186538"/>
            <a:ext cx="395021" cy="395021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70340" y="186538"/>
            <a:ext cx="395021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564930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32197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219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17558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42847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284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78623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53497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5349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39688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needed)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364147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414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00753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974798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74798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618182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585448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585448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228832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0" descr="/sessions/festive-serene-bohr/mnt/outputs/ipdicons/be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238098"/>
            <a:ext cx="404165" cy="40416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50876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Bed Allocation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1508760" y="14630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patient's clinical need to a physical, available bed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2057400"/>
            <a:ext cx="6675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22960" y="22585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22960" y="27157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2296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264261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type is matched against the clinical need — general, isolation, gender restriction, or ICU.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2960" y="355015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22960" y="3550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1325880" y="347700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available bed is assigned; the bed's status moves from available to occupied.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22960" y="43845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22960" y="43845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1325880" y="431139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allocation is recorded as history — not just a current bed field — so "where was this patient, and when" is always answerable.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22960" y="521893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22960" y="52189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325880" y="514578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suitable bed exists, the patient enters an explicit "awaiting bed" state rather than being force-placed.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7452360" y="205740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7708392" y="22402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INVOLVED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708392" y="26243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48" name="Image 1" descr="/sessions/festive-serene-bohr/mnt/outputs/ipdicons/nur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564" y="2716500"/>
            <a:ext cx="199705" cy="199705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8229600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nurse / bed manager</a:t>
            </a:r>
            <a:endParaRPr lang="en-US" sz="1250" dirty="0"/>
          </a:p>
        </p:txBody>
      </p:sp>
      <p:sp>
        <p:nvSpPr>
          <p:cNvPr id="50" name="Shape 46"/>
          <p:cNvSpPr/>
          <p:nvPr/>
        </p:nvSpPr>
        <p:spPr>
          <a:xfrm>
            <a:off x="7708392" y="30815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51" name="Image 2" descr="/sessions/festive-serene-bohr/mnt/outputs/ipdicons/adm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564" y="3173700"/>
            <a:ext cx="199705" cy="199705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8229600" y="3108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desk</a:t>
            </a:r>
            <a:endParaRPr lang="en-US" sz="1250" dirty="0"/>
          </a:p>
        </p:txBody>
      </p:sp>
      <p:sp>
        <p:nvSpPr>
          <p:cNvPr id="53" name="Shape 48"/>
          <p:cNvSpPr/>
          <p:nvPr/>
        </p:nvSpPr>
        <p:spPr>
          <a:xfrm>
            <a:off x="7452360" y="457200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EAF6F2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7680960" y="4800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5" name="Image 3" descr="/sessions/festive-serene-bohr/mnt/outputs/ipdicons/safet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88" y="4910328"/>
            <a:ext cx="237744" cy="237744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275320" y="4754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7680960" y="5166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bed can never be allocated to two active admissions at once — this is enforced, not just conventionally avoided.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530352"/>
            <a:ext cx="10981944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-45720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921546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1546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564930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80990" y="186538"/>
            <a:ext cx="395021" cy="395021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80990" y="186538"/>
            <a:ext cx="395021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7558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42847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284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78623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53497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5349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39688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needed)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364147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414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00753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974798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74798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618182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585448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585448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228832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0" descr="/sessions/festive-serene-bohr/mnt/outputs/ipdicons/assessmen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238098"/>
            <a:ext cx="404165" cy="40416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50876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Initial Assessment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1508760" y="14630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data, diagnosis, and the first care plan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2057400"/>
            <a:ext cx="6675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22960" y="22585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22960" y="27157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2296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264261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performs the first assessment on arrival: vitals, allergy check, risk screening.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2960" y="355015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22960" y="3550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1325880" y="347700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attending doctor takes a full history and exam, confirms the diagnosis, and writes the initial plan.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22960" y="43845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22960" y="43845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1325880" y="431139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team is formed — attending doctor, primary nurse, and any consultants needed immediately.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22960" y="521893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22960" y="52189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325880" y="514578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orders are placed: investigations, medications, diet, nursing instructions — each starts its own tracked lifecycle.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7452360" y="205740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7708392" y="22402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INVOLVED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708392" y="26243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48" name="Image 1" descr="/sessions/festive-serene-bohr/mnt/outputs/ipdicons/nur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564" y="2716500"/>
            <a:ext cx="199705" cy="199705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8229600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/ ward nurse</a:t>
            </a:r>
            <a:endParaRPr lang="en-US" sz="1250" dirty="0"/>
          </a:p>
        </p:txBody>
      </p:sp>
      <p:sp>
        <p:nvSpPr>
          <p:cNvPr id="50" name="Shape 46"/>
          <p:cNvSpPr/>
          <p:nvPr/>
        </p:nvSpPr>
        <p:spPr>
          <a:xfrm>
            <a:off x="7708392" y="30815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51" name="Image 2" descr="/sessions/festive-serene-bohr/mnt/outputs/ipdicons/docto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564" y="3173700"/>
            <a:ext cx="199705" cy="199705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8229600" y="3108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Attending doctor</a:t>
            </a:r>
            <a:endParaRPr lang="en-US" sz="1250" dirty="0"/>
          </a:p>
        </p:txBody>
      </p:sp>
      <p:sp>
        <p:nvSpPr>
          <p:cNvPr id="53" name="Shape 48"/>
          <p:cNvSpPr/>
          <p:nvPr/>
        </p:nvSpPr>
        <p:spPr>
          <a:xfrm>
            <a:off x="7452360" y="457200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EAF6F2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7680960" y="4800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5" name="Image 3" descr="/sessions/festive-serene-bohr/mnt/outputs/ipdicons/safet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88" y="4910328"/>
            <a:ext cx="237744" cy="237744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275320" y="4754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7680960" y="5166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unstable patient on arrival escalates immediately — assessment never proceeds routinely past a red flag.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530352"/>
            <a:ext cx="10981944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-45720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921546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1546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564930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32197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219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17558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91640" y="186538"/>
            <a:ext cx="395021" cy="395021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91640" y="186538"/>
            <a:ext cx="395021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78623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53497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5349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39688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needed)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364147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414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00753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974798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74798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618182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585448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585448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228832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8" name="Image 0" descr="/sessions/festive-serene-bohr/mnt/outputs/ipdicons/dailycar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238098"/>
            <a:ext cx="404165" cy="40416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50876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Daily Care — The Repeating Loop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1508760" y="14630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most of an admission actually happens, day after day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2057400"/>
            <a:ext cx="6675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22960" y="22585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22960" y="27157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2296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2642616"/>
            <a:ext cx="557784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rounds at least daily: review results, examine the patient, update the plan and orders.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2960" y="338328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2296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1325880" y="3310128"/>
            <a:ext cx="557784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runs continuously: scheduled vitals, medication administration, intake/output, tasks, notes.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22960" y="405079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2296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1325880" y="3977640"/>
            <a:ext cx="557784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and medications each move through their own order → result / administration cycle.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22960" y="4718304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22960" y="4718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325880" y="4645152"/>
            <a:ext cx="557784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concerning finding escalates immediately to the doctor — it never waits for the next scheduled round.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822960" y="5385816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22960" y="5385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1325880" y="5312664"/>
            <a:ext cx="557784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repeats until the doctor decides: continue, escalate, plan a procedure, or begin discharge planning.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7452360" y="205740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49" name="Text 46"/>
          <p:cNvSpPr txBox="1"/>
          <p:nvPr/>
        </p:nvSpPr>
        <p:spPr>
          <a:xfrm>
            <a:off x="7708392" y="22402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INVOLVED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7708392" y="26243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51" name="Image 1" descr="/sessions/festive-serene-bohr/mnt/outputs/ipdicons/docto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564" y="2716500"/>
            <a:ext cx="199705" cy="199705"/>
          </a:xfrm>
          <a:prstGeom prst="rect">
            <a:avLst/>
          </a:prstGeom>
        </p:spPr>
      </p:pic>
      <p:sp>
        <p:nvSpPr>
          <p:cNvPr id="52" name="Text 48"/>
          <p:cNvSpPr txBox="1"/>
          <p:nvPr/>
        </p:nvSpPr>
        <p:spPr>
          <a:xfrm>
            <a:off x="8229600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Attending / consulting doctors</a:t>
            </a:r>
            <a:endParaRPr lang="en-US" sz="1250" dirty="0"/>
          </a:p>
        </p:txBody>
      </p:sp>
      <p:sp>
        <p:nvSpPr>
          <p:cNvPr id="53" name="Shape 49"/>
          <p:cNvSpPr/>
          <p:nvPr/>
        </p:nvSpPr>
        <p:spPr>
          <a:xfrm>
            <a:off x="7708392" y="30815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54" name="Image 2" descr="/sessions/festive-serene-bohr/mnt/outputs/ipdicons/nur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564" y="3173700"/>
            <a:ext cx="199705" cy="199705"/>
          </a:xfrm>
          <a:prstGeom prst="rect">
            <a:avLst/>
          </a:prstGeom>
        </p:spPr>
      </p:pic>
      <p:sp>
        <p:nvSpPr>
          <p:cNvPr id="55" name="Text 50"/>
          <p:cNvSpPr txBox="1"/>
          <p:nvPr/>
        </p:nvSpPr>
        <p:spPr>
          <a:xfrm>
            <a:off x="8229600" y="3108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(continuous)</a:t>
            </a:r>
            <a:endParaRPr lang="en-US" sz="1250" dirty="0"/>
          </a:p>
        </p:txBody>
      </p:sp>
      <p:sp>
        <p:nvSpPr>
          <p:cNvPr id="56" name="Shape 51"/>
          <p:cNvSpPr/>
          <p:nvPr/>
        </p:nvSpPr>
        <p:spPr>
          <a:xfrm>
            <a:off x="7708392" y="35387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57" name="Image 3" descr="/sessions/festive-serene-bohr/mnt/outputs/ipdicons/lab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564" y="3630900"/>
            <a:ext cx="199705" cy="199705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8229600" y="3566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/ radiology</a:t>
            </a:r>
            <a:endParaRPr lang="en-US" sz="1250" dirty="0"/>
          </a:p>
        </p:txBody>
      </p:sp>
      <p:sp>
        <p:nvSpPr>
          <p:cNvPr id="59" name="Shape 53"/>
          <p:cNvSpPr/>
          <p:nvPr/>
        </p:nvSpPr>
        <p:spPr>
          <a:xfrm>
            <a:off x="7708392" y="39959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60" name="Image 4" descr="/sessions/festive-serene-bohr/mnt/outputs/ipdicons/pharmacy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0564" y="4088100"/>
            <a:ext cx="199705" cy="199705"/>
          </a:xfrm>
          <a:prstGeom prst="rect">
            <a:avLst/>
          </a:prstGeom>
        </p:spPr>
      </p:pic>
      <p:sp>
        <p:nvSpPr>
          <p:cNvPr id="61" name="Text 54"/>
          <p:cNvSpPr txBox="1"/>
          <p:nvPr/>
        </p:nvSpPr>
        <p:spPr>
          <a:xfrm>
            <a:off x="8229600" y="4023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250" dirty="0"/>
          </a:p>
        </p:txBody>
      </p:sp>
      <p:sp>
        <p:nvSpPr>
          <p:cNvPr id="62" name="Shape 55"/>
          <p:cNvSpPr/>
          <p:nvPr/>
        </p:nvSpPr>
        <p:spPr>
          <a:xfrm>
            <a:off x="7452360" y="457200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EAF6F2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63" name="Shape 56"/>
          <p:cNvSpPr/>
          <p:nvPr/>
        </p:nvSpPr>
        <p:spPr>
          <a:xfrm>
            <a:off x="7680960" y="4800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4" name="Image 5" descr="/sessions/festive-serene-bohr/mnt/outputs/ipdicons/safety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0688" y="4910328"/>
            <a:ext cx="237744" cy="237744"/>
          </a:xfrm>
          <a:prstGeom prst="rect">
            <a:avLst/>
          </a:prstGeom>
        </p:spPr>
      </p:pic>
      <p:sp>
        <p:nvSpPr>
          <p:cNvPr id="65" name="Text 57"/>
          <p:cNvSpPr txBox="1"/>
          <p:nvPr/>
        </p:nvSpPr>
        <p:spPr>
          <a:xfrm>
            <a:off x="8275320" y="4754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66" name="Text 58"/>
          <p:cNvSpPr txBox="1"/>
          <p:nvPr/>
        </p:nvSpPr>
        <p:spPr>
          <a:xfrm>
            <a:off x="7680960" y="5166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never edited in place — a change discontinues the old order and creates a new one, both kept in history.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530352"/>
            <a:ext cx="10981944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-45720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921546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1546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564930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32197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219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17558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42847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284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78623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02291" y="186538"/>
            <a:ext cx="395021" cy="395021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2291" y="186538"/>
            <a:ext cx="395021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9688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needed)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364147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414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00753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974798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74798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618182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585448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585448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228832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8" name="Image 0" descr="/sessions/festive-serene-bohr/mnt/outputs/ipdicons/procedur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238098"/>
            <a:ext cx="404165" cy="40416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50876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Procedure / OT — Conditional Branch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1508760" y="14630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the daily care loop leads here — most admissions don't need this phase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2057400"/>
            <a:ext cx="6675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22960" y="22585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22960" y="27157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2296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264261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decides a procedure is indicated; OT coordination schedules a slot and team.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2960" y="355015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22960" y="3550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1325880" y="347700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Pre-op workup, anesthesia clearance, and informed consent are completed before the slot is confirmed.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22960" y="43845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22960" y="43845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1325880" y="431139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is transferred to OT; the procedure is performed and documented as an operative note.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22960" y="521893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22960" y="52189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325880" y="514578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moves to recovery for post-anesthesia monitoring before returning to the ward or ICU.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7452360" y="205740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7708392" y="22402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INVOLVED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708392" y="26243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48" name="Image 1" descr="/sessions/festive-serene-bohr/mnt/outputs/ipdicons/o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564" y="2716500"/>
            <a:ext cx="199705" cy="199705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8229600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 / anesthetist / OT team</a:t>
            </a:r>
            <a:endParaRPr lang="en-US" sz="1250" dirty="0"/>
          </a:p>
        </p:txBody>
      </p:sp>
      <p:sp>
        <p:nvSpPr>
          <p:cNvPr id="50" name="Shape 46"/>
          <p:cNvSpPr/>
          <p:nvPr/>
        </p:nvSpPr>
        <p:spPr>
          <a:xfrm>
            <a:off x="7708392" y="30815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51" name="Image 2" descr="/sessions/festive-serene-bohr/mnt/outputs/ipdicons/nur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564" y="3173700"/>
            <a:ext cx="199705" cy="199705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8229600" y="3108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nurse (prep &amp; handover)</a:t>
            </a:r>
            <a:endParaRPr lang="en-US" sz="1250" dirty="0"/>
          </a:p>
        </p:txBody>
      </p:sp>
      <p:sp>
        <p:nvSpPr>
          <p:cNvPr id="53" name="Shape 48"/>
          <p:cNvSpPr/>
          <p:nvPr/>
        </p:nvSpPr>
        <p:spPr>
          <a:xfrm>
            <a:off x="7452360" y="457200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EAF6F2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7680960" y="4800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5" name="Image 3" descr="/sessions/festive-serene-bohr/mnt/outputs/ipdicons/safet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88" y="4910328"/>
            <a:ext cx="237744" cy="237744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275320" y="4754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7680960" y="5166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clearance fails on the scheduled day, the procedure is postponed and the OT slot is released — never held indefinitely.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530352"/>
            <a:ext cx="10981944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-45720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921546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1546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564930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32197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219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17558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42847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284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78623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53497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5349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39688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needed)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312941" y="186538"/>
            <a:ext cx="395021" cy="395021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12941" y="186538"/>
            <a:ext cx="395021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00753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974798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74798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618182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585448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585448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228832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0" descr="/sessions/festive-serene-bohr/mnt/outputs/ipdicons/recover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238098"/>
            <a:ext cx="404165" cy="40416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50876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Recovery &amp; Return to Ward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1508760" y="14630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back into ongoing inpatient care after a procedure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2057400"/>
            <a:ext cx="6675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22960" y="22585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22960" y="27157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2296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264261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Recovery/PACU staff monitor the patient until stable for transfer onward.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2960" y="355015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22960" y="3550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1325880" y="347700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is decided: back to the original ward, a different bed, or ICU if escalated.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22960" y="43845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22960" y="43845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1325880" y="431139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receiving nurse formally acknowledges the patient and all post-operative orders — nothing carries over silently.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22960" y="521893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22960" y="52189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325880" y="514578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ward care resumes, now incorporating post-op-specific orders (wound checks, mobilization, pain management).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7452360" y="205740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7708392" y="22402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INVOLVED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708392" y="26243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48" name="Image 1" descr="/sessions/festive-serene-bohr/mnt/outputs/ipdicons/nur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564" y="2716500"/>
            <a:ext cx="199705" cy="199705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8229600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/ PACU staff</a:t>
            </a:r>
            <a:endParaRPr lang="en-US" sz="1250" dirty="0"/>
          </a:p>
        </p:txBody>
      </p:sp>
      <p:sp>
        <p:nvSpPr>
          <p:cNvPr id="50" name="Shape 46"/>
          <p:cNvSpPr/>
          <p:nvPr/>
        </p:nvSpPr>
        <p:spPr>
          <a:xfrm>
            <a:off x="7708392" y="30815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51" name="Image 2" descr="/sessions/festive-serene-bohr/mnt/outputs/ipdicons/nur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564" y="3173700"/>
            <a:ext cx="199705" cy="199705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8229600" y="3108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ward nurse</a:t>
            </a:r>
            <a:endParaRPr lang="en-US" sz="1250" dirty="0"/>
          </a:p>
        </p:txBody>
      </p:sp>
      <p:sp>
        <p:nvSpPr>
          <p:cNvPr id="53" name="Shape 48"/>
          <p:cNvSpPr/>
          <p:nvPr/>
        </p:nvSpPr>
        <p:spPr>
          <a:xfrm>
            <a:off x="7452360" y="457200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EAF6F2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7680960" y="4800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5" name="Image 3" descr="/sessions/festive-serene-bohr/mnt/outputs/ipdicons/safet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88" y="4910328"/>
            <a:ext cx="237744" cy="237744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275320" y="4754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7680960" y="5166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who doesn't stabilize as expected escalates to ICU instead of a routine ward return.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530352"/>
            <a:ext cx="10981944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-45720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921546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1546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564930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32197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219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17558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42847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284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78623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53497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5349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39688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needed)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364147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414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00753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923591" y="186538"/>
            <a:ext cx="395021" cy="395021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23591" y="186538"/>
            <a:ext cx="395021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618182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585448" y="237744"/>
            <a:ext cx="292608" cy="292608"/>
          </a:xfrm>
          <a:prstGeom prst="ellipse">
            <a:avLst/>
          </a:prstGeom>
          <a:solidFill>
            <a:srgbClr val="C7D6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585448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228832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0" descr="/sessions/festive-serene-bohr/mnt/outputs/ipdicons/dischargepla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238098"/>
            <a:ext cx="404165" cy="40416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50876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Discharge Planning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1508760" y="14630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clearances, closing in parallel — often days before departure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2057400"/>
            <a:ext cx="6675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22960" y="22585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22960" y="27157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2296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264261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clearance — doctor confirms medical fitness to leave.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2960" y="355015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22960" y="3550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1325880" y="347700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reconciliation — final list of what continues at home vs. what stops.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22960" y="43845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22960" y="43845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1325880" y="431139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clearance — account settled or approved to proceed.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22960" y="521893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22960" y="52189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325880" y="514578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— discharge summary and follow-up instructions finalized.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7452360" y="205740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7708392" y="22402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INVOLVED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708392" y="26243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48" name="Image 1" descr="/sessions/festive-serene-bohr/mnt/outputs/ipdicons/docto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564" y="2716500"/>
            <a:ext cx="199705" cy="199705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8229600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Attending doctor</a:t>
            </a:r>
            <a:endParaRPr lang="en-US" sz="1250" dirty="0"/>
          </a:p>
        </p:txBody>
      </p:sp>
      <p:sp>
        <p:nvSpPr>
          <p:cNvPr id="50" name="Shape 46"/>
          <p:cNvSpPr/>
          <p:nvPr/>
        </p:nvSpPr>
        <p:spPr>
          <a:xfrm>
            <a:off x="7708392" y="30815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51" name="Image 2" descr="/sessions/festive-serene-bohr/mnt/outputs/ipdicons/pharmac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564" y="3173700"/>
            <a:ext cx="199705" cy="199705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8229600" y="3108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  <a:endParaRPr lang="en-US" sz="1250" dirty="0"/>
          </a:p>
        </p:txBody>
      </p:sp>
      <p:sp>
        <p:nvSpPr>
          <p:cNvPr id="53" name="Shape 48"/>
          <p:cNvSpPr/>
          <p:nvPr/>
        </p:nvSpPr>
        <p:spPr>
          <a:xfrm>
            <a:off x="7708392" y="35387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54" name="Image 3" descr="/sessions/festive-serene-bohr/mnt/outputs/ipdicons/billin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564" y="3630900"/>
            <a:ext cx="199705" cy="199705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8229600" y="3566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desk</a:t>
            </a:r>
            <a:endParaRPr lang="en-US" sz="1250" dirty="0"/>
          </a:p>
        </p:txBody>
      </p:sp>
      <p:sp>
        <p:nvSpPr>
          <p:cNvPr id="56" name="Shape 50"/>
          <p:cNvSpPr/>
          <p:nvPr/>
        </p:nvSpPr>
        <p:spPr>
          <a:xfrm>
            <a:off x="7452360" y="457200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EAF6F2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57" name="Shape 51"/>
          <p:cNvSpPr/>
          <p:nvPr/>
        </p:nvSpPr>
        <p:spPr>
          <a:xfrm>
            <a:off x="7680960" y="4800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8" name="Image 4" descr="/sessions/festive-serene-bohr/mnt/outputs/ipdicons/safety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4910328"/>
            <a:ext cx="237744" cy="237744"/>
          </a:xfrm>
          <a:prstGeom prst="rect">
            <a:avLst/>
          </a:prstGeom>
        </p:spPr>
      </p:pic>
      <p:sp>
        <p:nvSpPr>
          <p:cNvPr id="59" name="Text 52"/>
          <p:cNvSpPr txBox="1"/>
          <p:nvPr/>
        </p:nvSpPr>
        <p:spPr>
          <a:xfrm>
            <a:off x="8275320" y="4754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60" name="Text 53"/>
          <p:cNvSpPr txBox="1"/>
          <p:nvPr/>
        </p:nvSpPr>
        <p:spPr>
          <a:xfrm>
            <a:off x="7680960" y="5166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is blocked, visibly, until every required gate is closed — never a silent delay with no reason shown.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530352"/>
            <a:ext cx="10981944" cy="0"/>
          </a:xfrm>
          <a:prstGeom prst="line">
            <a:avLst/>
          </a:prstGeom>
          <a:noFill/>
          <a:ln w="19050">
            <a:solidFill>
              <a:srgbClr val="C7D6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10896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-45720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921546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1546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564930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32197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219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17558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142847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284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78623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53497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5349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39688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needed)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364147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4147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007531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974798" y="237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74798" y="237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618182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534242" y="186538"/>
            <a:ext cx="395021" cy="395021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534242" y="186538"/>
            <a:ext cx="395021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228832" y="603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8" name="Image 0" descr="/sessions/festive-serene-bohr/mnt/outputs/ipdicons/discharg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238098"/>
            <a:ext cx="404165" cy="40416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50876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Discharge &amp; Closure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1508760" y="14630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episode of care ends — and becomes read-only history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48640" y="2057400"/>
            <a:ext cx="6675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22960" y="22585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22960" y="27157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2296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264261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physically leaves; the bed releases and becomes available for the next allocation.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22960" y="355015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22960" y="3550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1325880" y="347700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type is recorded — routine, LAMA/DAMA, referred out, or deceased — each with its own required documentation.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22960" y="43845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22960" y="43845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1325880" y="431139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appointment is scheduled where needed; trailing billing/documentation items continue independently.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22960" y="521893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22960" y="52189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325880" y="5145786"/>
            <a:ext cx="5577840" cy="834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everything outstanding is resolved, the Admission moves to closed — the final, permanent record.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7452360" y="205740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7708392" y="22402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INVOLVED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708392" y="26243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48" name="Image 1" descr="/sessions/festive-serene-bohr/mnt/outputs/ipdicons/nur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564" y="2716500"/>
            <a:ext cx="199705" cy="199705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8229600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confirming departure</a:t>
            </a:r>
            <a:endParaRPr lang="en-US" sz="1250" dirty="0"/>
          </a:p>
        </p:txBody>
      </p:sp>
      <p:sp>
        <p:nvSpPr>
          <p:cNvPr id="50" name="Shape 46"/>
          <p:cNvSpPr/>
          <p:nvPr/>
        </p:nvSpPr>
        <p:spPr>
          <a:xfrm>
            <a:off x="7708392" y="3081528"/>
            <a:ext cx="384048" cy="384048"/>
          </a:xfrm>
          <a:prstGeom prst="ellipse">
            <a:avLst/>
          </a:prstGeom>
          <a:solidFill>
            <a:srgbClr val="1C3F60"/>
          </a:solidFill>
          <a:ln/>
        </p:spPr>
      </p:sp>
      <p:pic>
        <p:nvPicPr>
          <p:cNvPr id="51" name="Image 2" descr="/sessions/festive-serene-bohr/mnt/outputs/ipdicons/bill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564" y="3173700"/>
            <a:ext cx="199705" cy="199705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8229600" y="3108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 / billing</a:t>
            </a:r>
            <a:endParaRPr lang="en-US" sz="1250" dirty="0"/>
          </a:p>
        </p:txBody>
      </p:sp>
      <p:sp>
        <p:nvSpPr>
          <p:cNvPr id="53" name="Shape 48"/>
          <p:cNvSpPr/>
          <p:nvPr/>
        </p:nvSpPr>
        <p:spPr>
          <a:xfrm>
            <a:off x="7452360" y="457200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EAF6F2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7680960" y="4800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5" name="Image 3" descr="/sessions/festive-serene-bohr/mnt/outputs/ipdicons/safet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88" y="4910328"/>
            <a:ext cx="237744" cy="237744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275320" y="4754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7680960" y="51663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persists beyond this — a future admission is an entirely new episode, not a reopened old one.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Involved, Across the Whole Cycle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role owns the patient for the whole stay — responsibility itself moves through the cycle.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24002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sessions/festive-serene-bohr/mnt/outputs/ipdicons/adm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486" y="22000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29968"/>
            <a:ext cx="2097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395728"/>
            <a:ext cx="2097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&amp; admits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74464" y="1828800"/>
            <a:ext cx="324002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3064" y="2057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sessions/festive-serene-bohr/mnt/outputs/ipdicons/nur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710" y="220004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4584" y="2029968"/>
            <a:ext cx="2097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Nurse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34584" y="2395728"/>
            <a:ext cx="2097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bedside care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71688" y="1828800"/>
            <a:ext cx="324002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0288" y="2057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sessions/festive-serene-bohr/mnt/outputs/ipdicons/docto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934" y="220004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31808" y="2029968"/>
            <a:ext cx="2097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Attending Doctor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9131808" y="2395728"/>
            <a:ext cx="2097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overall plan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77240" y="3383280"/>
            <a:ext cx="324002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5840" y="36118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sessions/festive-serene-bohr/mnt/outputs/ipdicons/docto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486" y="375452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3584448"/>
            <a:ext cx="2097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Specialist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737360" y="3950208"/>
            <a:ext cx="2097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clinical questions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74464" y="3383280"/>
            <a:ext cx="324002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3064" y="36118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sessions/festive-serene-bohr/mnt/outputs/ipdicons/o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710" y="3754526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34584" y="3584448"/>
            <a:ext cx="2097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Team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434584" y="3950208"/>
            <a:ext cx="2097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Surgeon, anesthetist, OT nurse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71688" y="3383280"/>
            <a:ext cx="324002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00288" y="36118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sessions/festive-serene-bohr/mnt/outputs/ipdicons/pharmacy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2934" y="3754526"/>
            <a:ext cx="309067" cy="30906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31808" y="3584448"/>
            <a:ext cx="2097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9131808" y="3950208"/>
            <a:ext cx="2097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dispenses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77240" y="4937760"/>
            <a:ext cx="324002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05840" y="51663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/sessions/festive-serene-bohr/mnt/outputs/ipdicons/lab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8486" y="5309006"/>
            <a:ext cx="309067" cy="30906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737360" y="5138928"/>
            <a:ext cx="2097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/ Radiology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1737360" y="5504688"/>
            <a:ext cx="2097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4474464" y="4937760"/>
            <a:ext cx="324002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703064" y="51663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/sessions/festive-serene-bohr/mnt/outputs/ipdicons/billing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5710" y="5309006"/>
            <a:ext cx="309067" cy="309067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434584" y="5138928"/>
            <a:ext cx="2097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Desk</a:t>
            </a:r>
            <a:endParaRPr lang="en-US" sz="1400" dirty="0"/>
          </a:p>
        </p:txBody>
      </p:sp>
      <p:sp>
        <p:nvSpPr>
          <p:cNvPr id="43" name="Text 33"/>
          <p:cNvSpPr txBox="1"/>
          <p:nvPr/>
        </p:nvSpPr>
        <p:spPr>
          <a:xfrm>
            <a:off x="5434584" y="5504688"/>
            <a:ext cx="2097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clearance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8171688" y="4937760"/>
            <a:ext cx="324002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400288" y="51663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6" name="Image 8" descr="/sessions/festive-serene-bohr/mnt/outputs/ipdicons/admin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2934" y="5309006"/>
            <a:ext cx="309067" cy="309067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131808" y="5138928"/>
            <a:ext cx="2097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</a:t>
            </a:r>
            <a:endParaRPr lang="en-US" sz="1400" dirty="0"/>
          </a:p>
        </p:txBody>
      </p:sp>
      <p:sp>
        <p:nvSpPr>
          <p:cNvPr id="48" name="Text 37"/>
          <p:cNvSpPr txBox="1"/>
          <p:nvPr/>
        </p:nvSpPr>
        <p:spPr>
          <a:xfrm>
            <a:off x="9131808" y="5504688"/>
            <a:ext cx="2097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oversight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Checkpoints Built Into the Cycle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that hold regardless of which phase the patient is 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sessions/festive-serene-bohr/mnt/outputs/ipdicons/safet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2136404"/>
            <a:ext cx="171176" cy="171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002536"/>
            <a:ext cx="9994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bed is never allocated to two active admissions at once.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274320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/sessions/festive-serene-bohr/mnt/outputs/ipdicons/safet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964" y="2822204"/>
            <a:ext cx="171176" cy="171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688336"/>
            <a:ext cx="9994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never edited in place — a change discontinues the old one and creates a new one, both kept in history.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" y="342900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/sessions/festive-serene-bohr/mnt/outputs/ipdicons/safet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64" y="3508004"/>
            <a:ext cx="171176" cy="17117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374136"/>
            <a:ext cx="9994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result gets a direct, confirmed notification — not just a dashboard flag someone might miss.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822960" y="411480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3" descr="/sessions/festive-serene-bohr/mnt/outputs/ipdicons/safet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4193804"/>
            <a:ext cx="171176" cy="17117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4059936"/>
            <a:ext cx="9994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cannot complete until every required clearance gate is closed, and the blocking gate is always visible.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822960" y="480060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4" descr="/sessions/festive-serene-bohr/mnt/outputs/ipdicons/safety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964" y="4879604"/>
            <a:ext cx="171176" cy="17117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25880" y="4745736"/>
            <a:ext cx="9994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transfer requires the receiving nurse's explicit acceptance — a patient is never "moved" without someone confirming receipt.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822960" y="548640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5" descr="/sessions/festive-serene-bohr/mnt/outputs/ipdicons/safety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964" y="5565404"/>
            <a:ext cx="171176" cy="17117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325880" y="5431536"/>
            <a:ext cx="9994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records are corrected by amendment, never silently overwritten — what was originally recorded is always preserved.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C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Cycle Doesn't Go As Planned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has an explicit, defined path — none of them is an improvised workaround.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71516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2996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/sessions/festive-serene-bohr/mnt/outputs/ipdicons/except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9" y="2150669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75104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unavailable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59152"/>
            <a:ext cx="42199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"awaiting bed" state, not a forced placement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31636" y="1828800"/>
            <a:ext cx="5271516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32804" y="202996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/sessions/festive-serene-bohr/mnt/outputs/ipdicons/exceptio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505" y="2150669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00316" y="1975104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cancelled / postponed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100316" y="2359152"/>
            <a:ext cx="42199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slot released; re-clearance flagged if time-sensitive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85800" y="3246120"/>
            <a:ext cx="5271516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86968" y="344728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/sessions/festive-serene-bohr/mnt/outputs/ipdicons/exceptio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9" y="356798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392424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leaves against advice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3776472"/>
            <a:ext cx="42199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LAMA/DAMA path — clearance replaced by a documented refusal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31636" y="3246120"/>
            <a:ext cx="5271516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32804" y="344728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3" descr="/sessions/festive-serene-bohr/mnt/outputs/ipdicons/exceptio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505" y="3567989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00316" y="3392424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deteriorates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100316" y="3776472"/>
            <a:ext cx="42199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escalation, bypasses the routine round cycle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85800" y="4663440"/>
            <a:ext cx="5271516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86968" y="486460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4" descr="/sessions/festive-serene-bohr/mnt/outputs/ipdicons/exceptio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9" y="4985309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54480" y="4809744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result, doctor unreachable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554480" y="5193792"/>
            <a:ext cx="42199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to a covering doctor within a defined window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31636" y="4663440"/>
            <a:ext cx="5271516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32804" y="486460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1" name="Image 5" descr="/sessions/festive-serene-bohr/mnt/outputs/ipdicons/exception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505" y="4985309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00316" y="4809744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not cleared at discharge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7100316" y="5193792"/>
            <a:ext cx="42199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Hospital-policy call — never blocks emergency care either way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685800"/>
            <a:ext cx="1371600" cy="13716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/sessions/festive-serene-bohr/mnt/outputs/ipd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014984"/>
            <a:ext cx="713232" cy="7132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2860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Cycle, In One Line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71800"/>
            <a:ext cx="9811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7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Admission. Eight phases. Many roles taking turns holding responsibility.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D7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traceable. Every clearance visible. Nothing silently skipped.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194560" y="4206240"/>
            <a:ext cx="7799832" cy="1737360"/>
          </a:xfrm>
          <a:prstGeom prst="roundRect">
            <a:avLst>
              <a:gd name="adj" fmla="val 4211"/>
            </a:avLst>
          </a:prstGeom>
          <a:solidFill>
            <a:srgbClr val="22405C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E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2514600" y="4389120"/>
            <a:ext cx="71597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F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— every workflow, state machine, exception, and the 14 open decisions we need from you — lives in IPD_Complete_Workflow_Functional_Requirements.docx. This deck is the map; that document is the territory.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2026-09-03T08:46:55Z</dcterms:created>
  <dcterms:modified xsi:type="dcterms:W3CDTF">2026-09-03T08:46:55Z</dcterms:modified>
</cp:coreProperties>
</file>